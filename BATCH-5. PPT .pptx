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94" r:id="rId2"/>
    <p:sldId id="257" r:id="rId3"/>
    <p:sldId id="285" r:id="rId4"/>
    <p:sldId id="258" r:id="rId5"/>
    <p:sldId id="260" r:id="rId6"/>
    <p:sldId id="261" r:id="rId7"/>
    <p:sldId id="290" r:id="rId8"/>
    <p:sldId id="291" r:id="rId9"/>
    <p:sldId id="259" r:id="rId10"/>
    <p:sldId id="263" r:id="rId11"/>
    <p:sldId id="264" r:id="rId12"/>
    <p:sldId id="288" r:id="rId13"/>
    <p:sldId id="265" r:id="rId14"/>
    <p:sldId id="289" r:id="rId15"/>
    <p:sldId id="267" r:id="rId16"/>
    <p:sldId id="270" r:id="rId17"/>
    <p:sldId id="293"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90F90E1-A7A2-4C6A-8F0B-8B639ED23D8C}" v="1" dt="2026-03-13T06:09:44.88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3426" autoAdjust="0"/>
  </p:normalViewPr>
  <p:slideViewPr>
    <p:cSldViewPr snapToGrid="0" snapToObjects="1">
      <p:cViewPr varScale="1">
        <p:scale>
          <a:sx n="103" d="100"/>
          <a:sy n="103" d="100"/>
        </p:scale>
        <p:origin x="1854" y="11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enkat allu" userId="5312a2bbdfe556c6" providerId="LiveId" clId="{6E41B00E-F853-49B5-8E82-A75A8FCF02DE}"/>
    <pc:docChg chg="undo custSel modSld">
      <pc:chgData name="venkat allu" userId="5312a2bbdfe556c6" providerId="LiveId" clId="{6E41B00E-F853-49B5-8E82-A75A8FCF02DE}" dt="2026-03-13T06:10:47.421" v="107" actId="1076"/>
      <pc:docMkLst>
        <pc:docMk/>
      </pc:docMkLst>
      <pc:sldChg chg="modSp mod">
        <pc:chgData name="venkat allu" userId="5312a2bbdfe556c6" providerId="LiveId" clId="{6E41B00E-F853-49B5-8E82-A75A8FCF02DE}" dt="2026-03-13T06:10:47.421" v="107" actId="1076"/>
        <pc:sldMkLst>
          <pc:docMk/>
          <pc:sldMk cId="0" sldId="259"/>
        </pc:sldMkLst>
        <pc:spChg chg="mod">
          <ac:chgData name="venkat allu" userId="5312a2bbdfe556c6" providerId="LiveId" clId="{6E41B00E-F853-49B5-8E82-A75A8FCF02DE}" dt="2026-03-13T06:10:47.421" v="107" actId="1076"/>
          <ac:spMkLst>
            <pc:docMk/>
            <pc:sldMk cId="0" sldId="259"/>
            <ac:spMk id="3" creationId="{00000000-0000-0000-0000-000000000000}"/>
          </ac:spMkLst>
        </pc:spChg>
      </pc:sldChg>
      <pc:sldChg chg="addSp modSp mod">
        <pc:chgData name="venkat allu" userId="5312a2bbdfe556c6" providerId="LiveId" clId="{6E41B00E-F853-49B5-8E82-A75A8FCF02DE}" dt="2026-03-13T06:09:03.908" v="88" actId="14100"/>
        <pc:sldMkLst>
          <pc:docMk/>
          <pc:sldMk cId="0" sldId="263"/>
        </pc:sldMkLst>
        <pc:spChg chg="mod">
          <ac:chgData name="venkat allu" userId="5312a2bbdfe556c6" providerId="LiveId" clId="{6E41B00E-F853-49B5-8E82-A75A8FCF02DE}" dt="2026-03-13T06:08:20.817" v="78" actId="20577"/>
          <ac:spMkLst>
            <pc:docMk/>
            <pc:sldMk cId="0" sldId="263"/>
            <ac:spMk id="2" creationId="{00000000-0000-0000-0000-000000000000}"/>
          </ac:spMkLst>
        </pc:spChg>
        <pc:spChg chg="mod">
          <ac:chgData name="venkat allu" userId="5312a2bbdfe556c6" providerId="LiveId" clId="{6E41B00E-F853-49B5-8E82-A75A8FCF02DE}" dt="2026-03-13T06:09:03.908" v="88" actId="14100"/>
          <ac:spMkLst>
            <pc:docMk/>
            <pc:sldMk cId="0" sldId="263"/>
            <ac:spMk id="3" creationId="{00000000-0000-0000-0000-000000000000}"/>
          </ac:spMkLst>
        </pc:spChg>
        <pc:picChg chg="add mod">
          <ac:chgData name="venkat allu" userId="5312a2bbdfe556c6" providerId="LiveId" clId="{6E41B00E-F853-49B5-8E82-A75A8FCF02DE}" dt="2026-03-13T06:08:59.052" v="87" actId="14100"/>
          <ac:picMkLst>
            <pc:docMk/>
            <pc:sldMk cId="0" sldId="263"/>
            <ac:picMk id="5" creationId="{9D1D7EB5-C1EA-FD67-7C72-2368A850E695}"/>
          </ac:picMkLst>
        </pc:picChg>
      </pc:sldChg>
      <pc:sldChg chg="modSp mod">
        <pc:chgData name="venkat allu" userId="5312a2bbdfe556c6" providerId="LiveId" clId="{6E41B00E-F853-49B5-8E82-A75A8FCF02DE}" dt="2026-03-13T06:05:11.930" v="68" actId="6549"/>
        <pc:sldMkLst>
          <pc:docMk/>
          <pc:sldMk cId="0" sldId="265"/>
        </pc:sldMkLst>
        <pc:spChg chg="mod">
          <ac:chgData name="venkat allu" userId="5312a2bbdfe556c6" providerId="LiveId" clId="{6E41B00E-F853-49B5-8E82-A75A8FCF02DE}" dt="2026-03-13T06:04:10.094" v="53" actId="20577"/>
          <ac:spMkLst>
            <pc:docMk/>
            <pc:sldMk cId="0" sldId="265"/>
            <ac:spMk id="2" creationId="{00000000-0000-0000-0000-000000000000}"/>
          </ac:spMkLst>
        </pc:spChg>
        <pc:spChg chg="mod">
          <ac:chgData name="venkat allu" userId="5312a2bbdfe556c6" providerId="LiveId" clId="{6E41B00E-F853-49B5-8E82-A75A8FCF02DE}" dt="2026-03-13T06:05:11.930" v="68" actId="6549"/>
          <ac:spMkLst>
            <pc:docMk/>
            <pc:sldMk cId="0" sldId="265"/>
            <ac:spMk id="3" creationId="{00000000-0000-0000-0000-000000000000}"/>
          </ac:spMkLst>
        </pc:spChg>
      </pc:sldChg>
      <pc:sldChg chg="modSp mod">
        <pc:chgData name="venkat allu" userId="5312a2bbdfe556c6" providerId="LiveId" clId="{6E41B00E-F853-49B5-8E82-A75A8FCF02DE}" dt="2026-03-13T05:58:50.230" v="1" actId="5793"/>
        <pc:sldMkLst>
          <pc:docMk/>
          <pc:sldMk cId="1641063249" sldId="285"/>
        </pc:sldMkLst>
        <pc:spChg chg="mod">
          <ac:chgData name="venkat allu" userId="5312a2bbdfe556c6" providerId="LiveId" clId="{6E41B00E-F853-49B5-8E82-A75A8FCF02DE}" dt="2026-03-13T05:58:50.230" v="1" actId="5793"/>
          <ac:spMkLst>
            <pc:docMk/>
            <pc:sldMk cId="1641063249" sldId="285"/>
            <ac:spMk id="3" creationId="{CEE61FFE-8EE3-4047-E846-0A4DAEE2EDCE}"/>
          </ac:spMkLst>
        </pc:spChg>
      </pc:sldChg>
      <pc:sldChg chg="modSp mod">
        <pc:chgData name="venkat allu" userId="5312a2bbdfe556c6" providerId="LiveId" clId="{6E41B00E-F853-49B5-8E82-A75A8FCF02DE}" dt="2026-03-13T06:00:16.897" v="8" actId="27636"/>
        <pc:sldMkLst>
          <pc:docMk/>
          <pc:sldMk cId="4239894086" sldId="288"/>
        </pc:sldMkLst>
        <pc:spChg chg="mod">
          <ac:chgData name="venkat allu" userId="5312a2bbdfe556c6" providerId="LiveId" clId="{6E41B00E-F853-49B5-8E82-A75A8FCF02DE}" dt="2026-03-13T06:00:16.897" v="8" actId="27636"/>
          <ac:spMkLst>
            <pc:docMk/>
            <pc:sldMk cId="4239894086" sldId="288"/>
            <ac:spMk id="3" creationId="{D6AB213D-5EDB-BBF2-FEF5-636A3C127CC5}"/>
          </ac:spMkLst>
        </pc:spChg>
      </pc:sldChg>
      <pc:sldChg chg="modSp mod">
        <pc:chgData name="venkat allu" userId="5312a2bbdfe556c6" providerId="LiveId" clId="{6E41B00E-F853-49B5-8E82-A75A8FCF02DE}" dt="2026-03-13T06:05:42.355" v="70" actId="2711"/>
        <pc:sldMkLst>
          <pc:docMk/>
          <pc:sldMk cId="1292765881" sldId="289"/>
        </pc:sldMkLst>
        <pc:spChg chg="mod">
          <ac:chgData name="venkat allu" userId="5312a2bbdfe556c6" providerId="LiveId" clId="{6E41B00E-F853-49B5-8E82-A75A8FCF02DE}" dt="2026-03-13T06:05:42.355" v="70" actId="2711"/>
          <ac:spMkLst>
            <pc:docMk/>
            <pc:sldMk cId="1292765881" sldId="289"/>
            <ac:spMk id="3" creationId="{716DF89D-A675-7CD3-6802-DFE19CA17A9F}"/>
          </ac:spMkLst>
        </pc:spChg>
      </pc:sldChg>
      <pc:sldChg chg="modSp mod">
        <pc:chgData name="venkat allu" userId="5312a2bbdfe556c6" providerId="LiveId" clId="{6E41B00E-F853-49B5-8E82-A75A8FCF02DE}" dt="2026-03-13T05:59:26.209" v="6" actId="20577"/>
        <pc:sldMkLst>
          <pc:docMk/>
          <pc:sldMk cId="4167674374" sldId="290"/>
        </pc:sldMkLst>
        <pc:spChg chg="mod">
          <ac:chgData name="venkat allu" userId="5312a2bbdfe556c6" providerId="LiveId" clId="{6E41B00E-F853-49B5-8E82-A75A8FCF02DE}" dt="2026-03-13T05:59:26.209" v="6" actId="20577"/>
          <ac:spMkLst>
            <pc:docMk/>
            <pc:sldMk cId="4167674374" sldId="290"/>
            <ac:spMk id="3" creationId="{84A2DC04-197F-8639-07DA-E84383F0D722}"/>
          </ac:spMkLst>
        </pc:spChg>
      </pc:sldChg>
      <pc:sldChg chg="addSp delSp modSp mod">
        <pc:chgData name="venkat allu" userId="5312a2bbdfe556c6" providerId="LiveId" clId="{6E41B00E-F853-49B5-8E82-A75A8FCF02DE}" dt="2026-03-13T06:10:24.535" v="105" actId="207"/>
        <pc:sldMkLst>
          <pc:docMk/>
          <pc:sldMk cId="111677922" sldId="294"/>
        </pc:sldMkLst>
        <pc:spChg chg="mod">
          <ac:chgData name="venkat allu" userId="5312a2bbdfe556c6" providerId="LiveId" clId="{6E41B00E-F853-49B5-8E82-A75A8FCF02DE}" dt="2026-03-13T06:09:18.428" v="90" actId="14100"/>
          <ac:spMkLst>
            <pc:docMk/>
            <pc:sldMk cId="111677922" sldId="294"/>
            <ac:spMk id="2" creationId="{17A88EB9-CDAD-1826-B3A1-A5E6FECFEE0D}"/>
          </ac:spMkLst>
        </pc:spChg>
        <pc:spChg chg="mod">
          <ac:chgData name="venkat allu" userId="5312a2bbdfe556c6" providerId="LiveId" clId="{6E41B00E-F853-49B5-8E82-A75A8FCF02DE}" dt="2026-03-13T06:10:07.812" v="101" actId="1076"/>
          <ac:spMkLst>
            <pc:docMk/>
            <pc:sldMk cId="111677922" sldId="294"/>
            <ac:spMk id="5" creationId="{1317F404-A9F6-6CFB-DF3A-1E5F8EA5DCE3}"/>
          </ac:spMkLst>
        </pc:spChg>
        <pc:spChg chg="add mod">
          <ac:chgData name="venkat allu" userId="5312a2bbdfe556c6" providerId="LiveId" clId="{6E41B00E-F853-49B5-8E82-A75A8FCF02DE}" dt="2026-03-13T06:10:24.535" v="105" actId="207"/>
          <ac:spMkLst>
            <pc:docMk/>
            <pc:sldMk cId="111677922" sldId="294"/>
            <ac:spMk id="6" creationId="{D0AD1F48-5DB4-2CAD-3BF3-BD8F46F6D89E}"/>
          </ac:spMkLst>
        </pc:spChg>
        <pc:spChg chg="del">
          <ac:chgData name="venkat allu" userId="5312a2bbdfe556c6" providerId="LiveId" clId="{6E41B00E-F853-49B5-8E82-A75A8FCF02DE}" dt="2026-03-13T06:09:43.343" v="94" actId="21"/>
          <ac:spMkLst>
            <pc:docMk/>
            <pc:sldMk cId="111677922" sldId="294"/>
            <ac:spMk id="8" creationId="{D0AD1F48-5DB4-2CAD-3BF3-BD8F46F6D89E}"/>
          </ac:spMkLst>
        </pc:spChg>
        <pc:spChg chg="mod">
          <ac:chgData name="venkat allu" userId="5312a2bbdfe556c6" providerId="LiveId" clId="{6E41B00E-F853-49B5-8E82-A75A8FCF02DE}" dt="2026-03-13T06:10:04.909" v="100" actId="1076"/>
          <ac:spMkLst>
            <pc:docMk/>
            <pc:sldMk cId="111677922" sldId="294"/>
            <ac:spMk id="9" creationId="{B6B80C74-865C-C105-241B-FED728D190A3}"/>
          </ac:spMkLst>
        </pc:spChg>
        <pc:spChg chg="mod">
          <ac:chgData name="venkat allu" userId="5312a2bbdfe556c6" providerId="LiveId" clId="{6E41B00E-F853-49B5-8E82-A75A8FCF02DE}" dt="2026-03-13T06:10:02.243" v="99" actId="1076"/>
          <ac:spMkLst>
            <pc:docMk/>
            <pc:sldMk cId="111677922" sldId="294"/>
            <ac:spMk id="10" creationId="{772C5D07-9473-7A2A-A6C6-AFBDAF46099B}"/>
          </ac:spMkLst>
        </pc:spChg>
        <pc:picChg chg="mod">
          <ac:chgData name="venkat allu" userId="5312a2bbdfe556c6" providerId="LiveId" clId="{6E41B00E-F853-49B5-8E82-A75A8FCF02DE}" dt="2026-03-13T06:10:10.060" v="102" actId="1076"/>
          <ac:picMkLst>
            <pc:docMk/>
            <pc:sldMk cId="111677922" sldId="294"/>
            <ac:picMk id="7" creationId="{61B84843-0740-20E1-FBF7-5DCCD1E68A0B}"/>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663C6C5-F6B5-4EF7-A527-BC2884B12FB5}" type="datetimeFigureOut">
              <a:rPr lang="en-IN" smtClean="0"/>
              <a:t>13-03-2026</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40B107-F2E2-411D-9625-E48612F8CF9B}" type="slidenum">
              <a:rPr lang="en-IN" smtClean="0"/>
              <a:t>‹#›</a:t>
            </a:fld>
            <a:endParaRPr lang="en-IN"/>
          </a:p>
        </p:txBody>
      </p:sp>
    </p:spTree>
    <p:extLst>
      <p:ext uri="{BB962C8B-B14F-4D97-AF65-F5344CB8AC3E}">
        <p14:creationId xmlns:p14="http://schemas.microsoft.com/office/powerpoint/2010/main" val="12914639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B40B107-F2E2-411D-9625-E48612F8CF9B}" type="slidenum">
              <a:rPr lang="en-IN" smtClean="0"/>
              <a:t>10</a:t>
            </a:fld>
            <a:endParaRPr lang="en-IN"/>
          </a:p>
        </p:txBody>
      </p:sp>
    </p:spTree>
    <p:extLst>
      <p:ext uri="{BB962C8B-B14F-4D97-AF65-F5344CB8AC3E}">
        <p14:creationId xmlns:p14="http://schemas.microsoft.com/office/powerpoint/2010/main" val="9095910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pPr/>
              <a:t>3/13/2026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pPr/>
              <a:t>3/13/2026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pPr/>
              <a:t>3/13/2026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pPr/>
              <a:t>3/13/2026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pPr/>
              <a:t>3/13/2026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pPr/>
              <a:t>3/13/2026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pPr/>
              <a:t>3/13/2026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pPr/>
              <a:t>3/13/2026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pPr/>
              <a:t>3/13/2026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pPr/>
              <a:t>3/13/2026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pPr/>
              <a:t>3/13/2026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pPr/>
              <a:t>3/13/2026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pPr/>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7A88EB9-CDAD-1826-B3A1-A5E6FECFEE0D}"/>
              </a:ext>
            </a:extLst>
          </p:cNvPr>
          <p:cNvSpPr txBox="1"/>
          <p:nvPr/>
        </p:nvSpPr>
        <p:spPr>
          <a:xfrm>
            <a:off x="129209" y="131659"/>
            <a:ext cx="8885583" cy="523220"/>
          </a:xfrm>
          <a:prstGeom prst="rect">
            <a:avLst/>
          </a:prstGeom>
          <a:noFill/>
        </p:spPr>
        <p:txBody>
          <a:bodyPr wrap="square" rtlCol="0">
            <a:spAutoFit/>
          </a:bodyPr>
          <a:lstStyle/>
          <a:p>
            <a:pPr algn="ctr"/>
            <a:r>
              <a:rPr lang="en-US" sz="2800" b="1" dirty="0"/>
              <a:t>MIRACLE EDUCATIONAL SOCIETY GROUP OF INSTITUTIONS</a:t>
            </a:r>
            <a:endParaRPr lang="en-IN" sz="2800" b="1" dirty="0"/>
          </a:p>
        </p:txBody>
      </p:sp>
      <p:sp>
        <p:nvSpPr>
          <p:cNvPr id="3" name="TextBox 2">
            <a:extLst>
              <a:ext uri="{FF2B5EF4-FFF2-40B4-BE49-F238E27FC236}">
                <a16:creationId xmlns:a16="http://schemas.microsoft.com/office/drawing/2014/main" id="{A9FFC2AA-3F3E-C6AF-0A08-40BC63407350}"/>
              </a:ext>
            </a:extLst>
          </p:cNvPr>
          <p:cNvSpPr txBox="1"/>
          <p:nvPr/>
        </p:nvSpPr>
        <p:spPr>
          <a:xfrm>
            <a:off x="3602934" y="614888"/>
            <a:ext cx="2544417" cy="369332"/>
          </a:xfrm>
          <a:prstGeom prst="rect">
            <a:avLst/>
          </a:prstGeom>
          <a:noFill/>
        </p:spPr>
        <p:txBody>
          <a:bodyPr wrap="square" rtlCol="0">
            <a:spAutoFit/>
          </a:bodyPr>
          <a:lstStyle/>
          <a:p>
            <a:r>
              <a:rPr lang="en-US" b="1" dirty="0"/>
              <a:t>(AUTONOUMOUS)</a:t>
            </a:r>
            <a:endParaRPr lang="en-IN" b="1" dirty="0"/>
          </a:p>
        </p:txBody>
      </p:sp>
      <p:sp>
        <p:nvSpPr>
          <p:cNvPr id="4" name="TextBox 3">
            <a:extLst>
              <a:ext uri="{FF2B5EF4-FFF2-40B4-BE49-F238E27FC236}">
                <a16:creationId xmlns:a16="http://schemas.microsoft.com/office/drawing/2014/main" id="{C8B9068F-0CC7-13A1-4323-43E82626F333}"/>
              </a:ext>
            </a:extLst>
          </p:cNvPr>
          <p:cNvSpPr txBox="1"/>
          <p:nvPr/>
        </p:nvSpPr>
        <p:spPr>
          <a:xfrm>
            <a:off x="780221" y="943932"/>
            <a:ext cx="8497957" cy="307777"/>
          </a:xfrm>
          <a:prstGeom prst="rect">
            <a:avLst/>
          </a:prstGeom>
          <a:noFill/>
        </p:spPr>
        <p:txBody>
          <a:bodyPr wrap="square" rtlCol="0">
            <a:spAutoFit/>
          </a:bodyPr>
          <a:lstStyle/>
          <a:p>
            <a:r>
              <a:rPr lang="en-US" sz="1400" b="1" dirty="0"/>
              <a:t>Approved by AICTE ,Accredited by NAAC &amp;  </a:t>
            </a:r>
            <a:r>
              <a:rPr lang="en-US" sz="1400" b="1" dirty="0" err="1"/>
              <a:t>Permenantly</a:t>
            </a:r>
            <a:r>
              <a:rPr lang="en-US" sz="1400" b="1" dirty="0"/>
              <a:t>  Affiliated  to JNTU-GV,VIZIANAGARAM-535216</a:t>
            </a:r>
            <a:endParaRPr lang="en-IN" sz="1400" b="1" dirty="0"/>
          </a:p>
        </p:txBody>
      </p:sp>
      <p:sp>
        <p:nvSpPr>
          <p:cNvPr id="5" name="TextBox 4">
            <a:extLst>
              <a:ext uri="{FF2B5EF4-FFF2-40B4-BE49-F238E27FC236}">
                <a16:creationId xmlns:a16="http://schemas.microsoft.com/office/drawing/2014/main" id="{1317F404-A9F6-6CFB-DF3A-1E5F8EA5DCE3}"/>
              </a:ext>
            </a:extLst>
          </p:cNvPr>
          <p:cNvSpPr txBox="1"/>
          <p:nvPr/>
        </p:nvSpPr>
        <p:spPr>
          <a:xfrm>
            <a:off x="159025" y="4540985"/>
            <a:ext cx="9014791" cy="461665"/>
          </a:xfrm>
          <a:prstGeom prst="rect">
            <a:avLst/>
          </a:prstGeom>
          <a:noFill/>
        </p:spPr>
        <p:txBody>
          <a:bodyPr wrap="square" rtlCol="0">
            <a:spAutoFit/>
          </a:bodyPr>
          <a:lstStyle/>
          <a:p>
            <a:pPr algn="ctr"/>
            <a:r>
              <a:rPr lang="en-US" sz="2400" b="1" dirty="0"/>
              <a:t>DEPARTMENT OF ELECTRONICS AND COMMUNICATION ENGINEERING</a:t>
            </a:r>
            <a:endParaRPr lang="en-IN" sz="2400" b="1" dirty="0"/>
          </a:p>
        </p:txBody>
      </p:sp>
      <p:pic>
        <p:nvPicPr>
          <p:cNvPr id="7" name="Picture 6">
            <a:extLst>
              <a:ext uri="{FF2B5EF4-FFF2-40B4-BE49-F238E27FC236}">
                <a16:creationId xmlns:a16="http://schemas.microsoft.com/office/drawing/2014/main" id="{61B84843-0740-20E1-FBF7-5DCCD1E68A0B}"/>
              </a:ext>
            </a:extLst>
          </p:cNvPr>
          <p:cNvPicPr>
            <a:picLocks noChangeAspect="1"/>
          </p:cNvPicPr>
          <p:nvPr/>
        </p:nvPicPr>
        <p:blipFill>
          <a:blip r:embed="rId2"/>
          <a:stretch>
            <a:fillRect/>
          </a:stretch>
        </p:blipFill>
        <p:spPr>
          <a:xfrm>
            <a:off x="3341903" y="2633602"/>
            <a:ext cx="2152075" cy="1975275"/>
          </a:xfrm>
          <a:prstGeom prst="rect">
            <a:avLst/>
          </a:prstGeom>
        </p:spPr>
      </p:pic>
      <p:sp>
        <p:nvSpPr>
          <p:cNvPr id="9" name="TextBox 8">
            <a:extLst>
              <a:ext uri="{FF2B5EF4-FFF2-40B4-BE49-F238E27FC236}">
                <a16:creationId xmlns:a16="http://schemas.microsoft.com/office/drawing/2014/main" id="{B6B80C74-865C-C105-241B-FED728D190A3}"/>
              </a:ext>
            </a:extLst>
          </p:cNvPr>
          <p:cNvSpPr txBox="1"/>
          <p:nvPr/>
        </p:nvSpPr>
        <p:spPr>
          <a:xfrm>
            <a:off x="323226" y="5247710"/>
            <a:ext cx="3190461" cy="1231106"/>
          </a:xfrm>
          <a:prstGeom prst="rect">
            <a:avLst/>
          </a:prstGeom>
          <a:noFill/>
        </p:spPr>
        <p:txBody>
          <a:bodyPr wrap="square" rtlCol="0">
            <a:spAutoFit/>
          </a:bodyPr>
          <a:lstStyle/>
          <a:p>
            <a:r>
              <a:rPr lang="en-US" sz="2000" b="1" u="sng" dirty="0"/>
              <a:t>Under The </a:t>
            </a:r>
            <a:r>
              <a:rPr lang="en-US" sz="2000" b="1" u="sng" dirty="0" err="1"/>
              <a:t>Gudiance</a:t>
            </a:r>
            <a:endParaRPr lang="en-US" sz="2000" b="1" u="sng" dirty="0"/>
          </a:p>
          <a:p>
            <a:r>
              <a:rPr lang="en-US" dirty="0" err="1"/>
              <a:t>Dr.A.Venkateswara</a:t>
            </a:r>
            <a:r>
              <a:rPr lang="en-US" dirty="0"/>
              <a:t> Rao</a:t>
            </a:r>
          </a:p>
          <a:p>
            <a:r>
              <a:rPr lang="en-US" dirty="0"/>
              <a:t>Associate Professor</a:t>
            </a:r>
          </a:p>
          <a:p>
            <a:r>
              <a:rPr lang="en-US" dirty="0"/>
              <a:t>ECE Department</a:t>
            </a:r>
            <a:endParaRPr lang="en-IN" dirty="0"/>
          </a:p>
        </p:txBody>
      </p:sp>
      <p:sp>
        <p:nvSpPr>
          <p:cNvPr id="10" name="TextBox 9">
            <a:extLst>
              <a:ext uri="{FF2B5EF4-FFF2-40B4-BE49-F238E27FC236}">
                <a16:creationId xmlns:a16="http://schemas.microsoft.com/office/drawing/2014/main" id="{772C5D07-9473-7A2A-A6C6-AFBDAF46099B}"/>
              </a:ext>
            </a:extLst>
          </p:cNvPr>
          <p:cNvSpPr txBox="1"/>
          <p:nvPr/>
        </p:nvSpPr>
        <p:spPr>
          <a:xfrm>
            <a:off x="5699887" y="5089348"/>
            <a:ext cx="3120887" cy="1508105"/>
          </a:xfrm>
          <a:prstGeom prst="rect">
            <a:avLst/>
          </a:prstGeom>
          <a:noFill/>
        </p:spPr>
        <p:txBody>
          <a:bodyPr wrap="square" rtlCol="0">
            <a:spAutoFit/>
          </a:bodyPr>
          <a:lstStyle/>
          <a:p>
            <a:r>
              <a:rPr lang="en-US" sz="2000" b="1" u="sng" dirty="0"/>
              <a:t>Presented By:</a:t>
            </a:r>
          </a:p>
          <a:p>
            <a:pPr algn="just"/>
            <a:r>
              <a:rPr lang="en-US" dirty="0" err="1"/>
              <a:t>Ch.Vandana</a:t>
            </a:r>
            <a:r>
              <a:rPr lang="en-US" dirty="0"/>
              <a:t>   (226C1A0410)</a:t>
            </a:r>
          </a:p>
          <a:p>
            <a:pPr algn="just"/>
            <a:r>
              <a:rPr lang="en-US" dirty="0" err="1"/>
              <a:t>K.Amrutha</a:t>
            </a:r>
            <a:r>
              <a:rPr lang="en-US" dirty="0"/>
              <a:t>     (226C1A0426)</a:t>
            </a:r>
          </a:p>
          <a:p>
            <a:pPr algn="just"/>
            <a:r>
              <a:rPr lang="en-US" dirty="0" err="1"/>
              <a:t>S.Navaneeth</a:t>
            </a:r>
            <a:r>
              <a:rPr lang="en-US" dirty="0"/>
              <a:t>  (226C1A0451)</a:t>
            </a:r>
          </a:p>
          <a:p>
            <a:pPr algn="just"/>
            <a:r>
              <a:rPr lang="en-US" dirty="0" err="1"/>
              <a:t>Ch.Abhishek</a:t>
            </a:r>
            <a:r>
              <a:rPr lang="en-US" dirty="0"/>
              <a:t>  (226C1A0411)</a:t>
            </a:r>
            <a:endParaRPr lang="en-IN" dirty="0"/>
          </a:p>
        </p:txBody>
      </p:sp>
      <p:sp>
        <p:nvSpPr>
          <p:cNvPr id="6" name="TextBox 5">
            <a:extLst>
              <a:ext uri="{FF2B5EF4-FFF2-40B4-BE49-F238E27FC236}">
                <a16:creationId xmlns:a16="http://schemas.microsoft.com/office/drawing/2014/main" id="{D0AD1F48-5DB4-2CAD-3BF3-BD8F46F6D89E}"/>
              </a:ext>
            </a:extLst>
          </p:cNvPr>
          <p:cNvSpPr txBox="1"/>
          <p:nvPr/>
        </p:nvSpPr>
        <p:spPr>
          <a:xfrm>
            <a:off x="-54665" y="1413556"/>
            <a:ext cx="9332843" cy="1200329"/>
          </a:xfrm>
          <a:prstGeom prst="rect">
            <a:avLst/>
          </a:prstGeom>
          <a:noFill/>
        </p:spPr>
        <p:txBody>
          <a:bodyPr wrap="square" rtlCol="0">
            <a:spAutoFit/>
          </a:bodyPr>
          <a:lstStyle/>
          <a:p>
            <a:pPr algn="ctr"/>
            <a:r>
              <a:rPr lang="en-US" sz="3600" b="1" dirty="0">
                <a:solidFill>
                  <a:srgbClr val="002060"/>
                </a:solidFill>
              </a:rPr>
              <a:t>Solar –Based Wireless Charging Station For Electric Vehicles</a:t>
            </a:r>
            <a:endParaRPr lang="en-IN" sz="3600" b="1" dirty="0">
              <a:solidFill>
                <a:srgbClr val="002060"/>
              </a:solidFill>
            </a:endParaRPr>
          </a:p>
        </p:txBody>
      </p:sp>
    </p:spTree>
    <p:extLst>
      <p:ext uri="{BB962C8B-B14F-4D97-AF65-F5344CB8AC3E}">
        <p14:creationId xmlns:p14="http://schemas.microsoft.com/office/powerpoint/2010/main" val="1116779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32370"/>
          </a:xfrm>
        </p:spPr>
        <p:txBody>
          <a:bodyPr>
            <a:normAutofit/>
          </a:bodyPr>
          <a:lstStyle/>
          <a:p>
            <a:r>
              <a:rPr b="1" u="sng" dirty="0">
                <a:latin typeface="+mn-lt"/>
                <a:cs typeface="Times New Roman" panose="02020603050405020304" pitchFamily="18" charset="0"/>
              </a:rPr>
              <a:t>Abstract</a:t>
            </a:r>
          </a:p>
        </p:txBody>
      </p:sp>
      <p:sp>
        <p:nvSpPr>
          <p:cNvPr id="3" name="Content Placeholder 2"/>
          <p:cNvSpPr>
            <a:spLocks noGrp="1"/>
          </p:cNvSpPr>
          <p:nvPr>
            <p:ph idx="1"/>
          </p:nvPr>
        </p:nvSpPr>
        <p:spPr>
          <a:xfrm>
            <a:off x="457200" y="1222566"/>
            <a:ext cx="8229600" cy="4849050"/>
          </a:xfrm>
        </p:spPr>
        <p:txBody>
          <a:bodyPr>
            <a:noAutofit/>
          </a:bodyPr>
          <a:lstStyle/>
          <a:p>
            <a:pPr algn="just"/>
            <a:r>
              <a:rPr lang="en-US" sz="2400" b="0" i="0" u="none" strike="noStrike" baseline="0" dirty="0">
                <a:cs typeface="Times New Roman" panose="02020603050405020304" pitchFamily="18" charset="0"/>
              </a:rPr>
              <a:t>The environmentally friendly vehicle is the global trend in the automobile industry. Compared to fuel vehicles, electric automobiles are the most environmentally beneficial option. </a:t>
            </a:r>
          </a:p>
          <a:p>
            <a:pPr algn="just"/>
            <a:r>
              <a:rPr lang="en-US" sz="2400" b="0" i="0" u="none" strike="noStrike" baseline="0" dirty="0">
                <a:cs typeface="Times New Roman" panose="02020603050405020304" pitchFamily="18" charset="0"/>
              </a:rPr>
              <a:t>The commercialization of electric vehicles is limited by their massive  capacity, weight, high price, short battery life, and long charging times. </a:t>
            </a:r>
          </a:p>
          <a:p>
            <a:pPr algn="just"/>
            <a:r>
              <a:rPr lang="en-US" sz="2400" b="0" i="0" u="none" strike="noStrike" baseline="0" dirty="0">
                <a:cs typeface="Times New Roman" panose="02020603050405020304" pitchFamily="18" charset="0"/>
              </a:rPr>
              <a:t>An electric vehicle with wireless charging eliminates these concerns.</a:t>
            </a:r>
            <a:endParaRPr lang="en-IN" sz="2400" b="0" i="0" u="none" strike="noStrike" baseline="0" dirty="0">
              <a:cs typeface="Times New Roman" panose="02020603050405020304" pitchFamily="18" charset="0"/>
            </a:endParaRPr>
          </a:p>
          <a:p>
            <a:pPr algn="just"/>
            <a:r>
              <a:rPr lang="en-US" sz="2400" b="0" i="0" u="none" strike="noStrike" baseline="0" dirty="0">
                <a:cs typeface="Times New Roman" panose="02020603050405020304" pitchFamily="18" charset="0"/>
              </a:rPr>
              <a:t> solar powered wireless auto charging for electric vehicles has been offered as a viable alternative to decreasing oil use, air pollution emissions, and electricity costs </a:t>
            </a:r>
            <a:endParaRPr lang="en-IN" sz="2400" dirty="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635ACC-8876-2C07-D0A6-C96E93767661}"/>
              </a:ext>
            </a:extLst>
          </p:cNvPr>
          <p:cNvSpPr>
            <a:spLocks noGrp="1"/>
          </p:cNvSpPr>
          <p:nvPr>
            <p:ph type="title"/>
          </p:nvPr>
        </p:nvSpPr>
        <p:spPr>
          <a:xfrm>
            <a:off x="457200" y="274638"/>
            <a:ext cx="8229600" cy="871410"/>
          </a:xfrm>
        </p:spPr>
        <p:txBody>
          <a:bodyPr>
            <a:normAutofit/>
          </a:bodyPr>
          <a:lstStyle/>
          <a:p>
            <a:r>
              <a:rPr lang="en-US" b="1" i="0" u="sng" strike="noStrike" baseline="0" dirty="0">
                <a:solidFill>
                  <a:srgbClr val="1F2023"/>
                </a:solidFill>
                <a:latin typeface="+mn-lt"/>
              </a:rPr>
              <a:t>Objectives</a:t>
            </a:r>
            <a:endParaRPr lang="en-IN" b="1" u="sng" dirty="0">
              <a:latin typeface="+mn-lt"/>
            </a:endParaRPr>
          </a:p>
        </p:txBody>
      </p:sp>
      <p:sp>
        <p:nvSpPr>
          <p:cNvPr id="3" name="Content Placeholder 2">
            <a:extLst>
              <a:ext uri="{FF2B5EF4-FFF2-40B4-BE49-F238E27FC236}">
                <a16:creationId xmlns:a16="http://schemas.microsoft.com/office/drawing/2014/main" id="{CEE61FFE-8EE3-4047-E846-0A4DAEE2EDCE}"/>
              </a:ext>
            </a:extLst>
          </p:cNvPr>
          <p:cNvSpPr>
            <a:spLocks noGrp="1"/>
          </p:cNvSpPr>
          <p:nvPr>
            <p:ph idx="1"/>
          </p:nvPr>
        </p:nvSpPr>
        <p:spPr>
          <a:xfrm>
            <a:off x="457200" y="1146048"/>
            <a:ext cx="8229600" cy="5035296"/>
          </a:xfrm>
        </p:spPr>
        <p:txBody>
          <a:bodyPr>
            <a:normAutofit/>
          </a:bodyPr>
          <a:lstStyle/>
          <a:p>
            <a:pPr marL="0" indent="0" algn="just">
              <a:buNone/>
            </a:pPr>
            <a:r>
              <a:rPr lang="en-US" sz="2400" b="0" i="0" u="none" strike="noStrike" baseline="0" dirty="0">
                <a:solidFill>
                  <a:srgbClr val="1F2023"/>
                </a:solidFill>
                <a:latin typeface="Times New Roman" panose="02020603050405020304" pitchFamily="18" charset="0"/>
                <a:cs typeface="Times New Roman" panose="02020603050405020304" pitchFamily="18" charset="0"/>
              </a:rPr>
              <a:t> </a:t>
            </a:r>
          </a:p>
          <a:p>
            <a:pPr algn="just"/>
            <a:r>
              <a:rPr lang="en-US" sz="2400" dirty="0">
                <a:solidFill>
                  <a:srgbClr val="000000"/>
                </a:solidFill>
                <a:cs typeface="Times New Roman" panose="02020603050405020304" pitchFamily="18" charset="0"/>
              </a:rPr>
              <a:t>T</a:t>
            </a:r>
            <a:r>
              <a:rPr lang="en-US" sz="2400" b="0" i="0" u="none" strike="noStrike" baseline="0" dirty="0">
                <a:solidFill>
                  <a:srgbClr val="000000"/>
                </a:solidFill>
                <a:cs typeface="Times New Roman" panose="02020603050405020304" pitchFamily="18" charset="0"/>
              </a:rPr>
              <a:t>o develop a model that may be used to simulate solar powered electric vehicle charging and to save electricity and money by using solar power to charge an automobile wirelessly.</a:t>
            </a:r>
            <a:endParaRPr lang="en-IN" sz="2400" b="0" i="0" u="none" strike="noStrike" baseline="0" dirty="0">
              <a:cs typeface="Times New Roman" panose="02020603050405020304" pitchFamily="18" charset="0"/>
            </a:endParaRPr>
          </a:p>
          <a:p>
            <a:pPr algn="just"/>
            <a:r>
              <a:rPr lang="en-US" sz="2400" b="0" i="0" u="none" strike="noStrike" baseline="0" dirty="0">
                <a:cs typeface="Times New Roman" panose="02020603050405020304" pitchFamily="18" charset="0"/>
              </a:rPr>
              <a:t>To </a:t>
            </a:r>
            <a:r>
              <a:rPr lang="en-US" sz="2400" b="0" i="0" u="none" strike="noStrike" baseline="0" dirty="0">
                <a:solidFill>
                  <a:srgbClr val="1F2023"/>
                </a:solidFill>
                <a:cs typeface="Times New Roman" panose="02020603050405020304" pitchFamily="18" charset="0"/>
              </a:rPr>
              <a:t>developed Wireless car charging using solar </a:t>
            </a:r>
            <a:r>
              <a:rPr lang="en-US" sz="2400" dirty="0">
                <a:solidFill>
                  <a:srgbClr val="1F2023"/>
                </a:solidFill>
                <a:cs typeface="Times New Roman" panose="02020603050405020304" pitchFamily="18" charset="0"/>
              </a:rPr>
              <a:t>t</a:t>
            </a:r>
            <a:r>
              <a:rPr lang="en-US" sz="2400" b="0" i="0" u="none" strike="noStrike" baseline="0" dirty="0">
                <a:cs typeface="Times New Roman" panose="02020603050405020304" pitchFamily="18" charset="0"/>
              </a:rPr>
              <a:t>o improve the environment by reducing pollution, facilitating connectivity, and simplifying handling </a:t>
            </a:r>
            <a:endParaRPr lang="en-US" sz="2400" b="0" i="0" u="none" strike="noStrike" baseline="0" dirty="0">
              <a:solidFill>
                <a:srgbClr val="1F2023"/>
              </a:solidFill>
              <a:cs typeface="Times New Roman" panose="02020603050405020304" pitchFamily="18" charset="0"/>
            </a:endParaRPr>
          </a:p>
          <a:p>
            <a:pPr algn="just"/>
            <a:r>
              <a:rPr lang="en-US" sz="2400" b="0" i="0" u="none" strike="noStrike" baseline="0" dirty="0">
                <a:cs typeface="Times New Roman" panose="02020603050405020304" pitchFamily="18" charset="0"/>
              </a:rPr>
              <a:t>To save electricity and money by using solar power to charge an automobile wirelessly </a:t>
            </a:r>
            <a:endParaRPr lang="en-US" sz="2400" b="0" i="0" u="none" strike="noStrike" baseline="0" dirty="0">
              <a:solidFill>
                <a:srgbClr val="1F2023"/>
              </a:solidFill>
              <a:cs typeface="Times New Roman" panose="02020603050405020304" pitchFamily="18" charset="0"/>
            </a:endParaRPr>
          </a:p>
          <a:p>
            <a:pPr marL="0" indent="0" algn="just">
              <a:buNone/>
            </a:pPr>
            <a:endParaRPr lang="en-IN" sz="2400" b="0" i="0" u="none" strike="noStrike" baseline="0" dirty="0">
              <a:solidFill>
                <a:srgbClr val="000000"/>
              </a:solidFill>
              <a:latin typeface="Times New Roman" panose="02020603050405020304" pitchFamily="18" charset="0"/>
              <a:cs typeface="Times New Roman" panose="02020603050405020304" pitchFamily="18" charset="0"/>
            </a:endParaRPr>
          </a:p>
          <a:p>
            <a:pPr algn="just"/>
            <a:endParaRPr lang="en-IN" sz="2400" b="0" i="0" u="none" strike="noStrike" baseline="0" dirty="0">
              <a:latin typeface="Times New Roman" panose="02020603050405020304" pitchFamily="18" charset="0"/>
              <a:cs typeface="Times New Roman" panose="02020603050405020304" pitchFamily="18" charset="0"/>
            </a:endParaRPr>
          </a:p>
          <a:p>
            <a:pPr marL="0" indent="0" algn="just">
              <a:buNone/>
            </a:pPr>
            <a:endParaRPr lang="en-IN" sz="2400" b="0" i="0" u="none" strike="noStrike" baseline="0" dirty="0">
              <a:latin typeface="Times New Roman" panose="02020603050405020304" pitchFamily="18" charset="0"/>
              <a:cs typeface="Times New Roman" panose="02020603050405020304" pitchFamily="18" charset="0"/>
            </a:endParaRPr>
          </a:p>
          <a:p>
            <a:endParaRPr lang="en-US" sz="1800" b="0" i="0" u="none" strike="noStrike" baseline="0" dirty="0">
              <a:solidFill>
                <a:srgbClr val="000000"/>
              </a:solidFill>
              <a:latin typeface="Times New Roman" panose="02020603050405020304" pitchFamily="18" charset="0"/>
            </a:endParaRPr>
          </a:p>
        </p:txBody>
      </p:sp>
    </p:spTree>
    <p:extLst>
      <p:ext uri="{BB962C8B-B14F-4D97-AF65-F5344CB8AC3E}">
        <p14:creationId xmlns:p14="http://schemas.microsoft.com/office/powerpoint/2010/main" val="16410632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8258"/>
          </a:xfrm>
        </p:spPr>
        <p:txBody>
          <a:bodyPr>
            <a:normAutofit/>
          </a:bodyPr>
          <a:lstStyle/>
          <a:p>
            <a:r>
              <a:rPr b="1" u="sng" dirty="0">
                <a:latin typeface="+mn-lt"/>
                <a:cs typeface="Times New Roman" panose="02020603050405020304" pitchFamily="18" charset="0"/>
              </a:rPr>
              <a:t>Problem Statement</a:t>
            </a:r>
          </a:p>
        </p:txBody>
      </p:sp>
      <p:sp>
        <p:nvSpPr>
          <p:cNvPr id="3" name="Content Placeholder 2"/>
          <p:cNvSpPr>
            <a:spLocks noGrp="1"/>
          </p:cNvSpPr>
          <p:nvPr>
            <p:ph idx="1"/>
          </p:nvPr>
        </p:nvSpPr>
        <p:spPr>
          <a:xfrm>
            <a:off x="665922" y="1500279"/>
            <a:ext cx="8229600" cy="4525963"/>
          </a:xfrm>
        </p:spPr>
        <p:txBody>
          <a:bodyPr>
            <a:normAutofit/>
          </a:bodyPr>
          <a:lstStyle/>
          <a:p>
            <a:pPr algn="just"/>
            <a:r>
              <a:rPr dirty="0">
                <a:cs typeface="Times New Roman" panose="02020603050405020304" pitchFamily="18" charset="0"/>
              </a:rPr>
              <a:t>1. Lack of accessible EV charging stations.</a:t>
            </a:r>
          </a:p>
          <a:p>
            <a:pPr algn="just"/>
            <a:r>
              <a:rPr dirty="0">
                <a:cs typeface="Times New Roman" panose="02020603050405020304" pitchFamily="18" charset="0"/>
              </a:rPr>
              <a:t>2. Dependence on traditional energy sources.</a:t>
            </a:r>
          </a:p>
          <a:p>
            <a:pPr algn="just"/>
            <a:r>
              <a:rPr dirty="0">
                <a:cs typeface="Times New Roman" panose="02020603050405020304" pitchFamily="18" charset="0"/>
              </a:rPr>
              <a:t>3. Fear of battery depletion among EV users</a:t>
            </a:r>
            <a:r>
              <a:rPr dirty="0">
                <a:latin typeface="Times New Roman" panose="02020603050405020304" pitchFamily="18" charset="0"/>
                <a:cs typeface="Times New Roman" panose="02020603050405020304" pitchFamily="18" charset="0"/>
              </a:rPr>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u="sng" dirty="0">
                <a:latin typeface="+mn-lt"/>
              </a:rPr>
              <a:t>Solution Overview</a:t>
            </a:r>
          </a:p>
        </p:txBody>
      </p:sp>
      <p:sp>
        <p:nvSpPr>
          <p:cNvPr id="3" name="Content Placeholder 2"/>
          <p:cNvSpPr>
            <a:spLocks noGrp="1"/>
          </p:cNvSpPr>
          <p:nvPr>
            <p:ph idx="1"/>
          </p:nvPr>
        </p:nvSpPr>
        <p:spPr/>
        <p:txBody>
          <a:bodyPr/>
          <a:lstStyle/>
          <a:p>
            <a:pPr algn="just"/>
            <a:r>
              <a:rPr lang="en-IN" sz="2400" dirty="0">
                <a:cs typeface="Times New Roman" panose="02020603050405020304" pitchFamily="18" charset="0"/>
              </a:rPr>
              <a:t>To </a:t>
            </a:r>
            <a:r>
              <a:rPr sz="2400" dirty="0">
                <a:cs typeface="Times New Roman" panose="02020603050405020304" pitchFamily="18" charset="0"/>
              </a:rPr>
              <a:t>Designing a wireless charging station powered by solar energy.</a:t>
            </a:r>
            <a:endParaRPr lang="en-IN" sz="2400" b="0" i="0" u="none" strike="noStrike" baseline="0" dirty="0">
              <a:cs typeface="Times New Roman" panose="02020603050405020304" pitchFamily="18" charset="0"/>
            </a:endParaRPr>
          </a:p>
          <a:p>
            <a:pPr algn="just"/>
            <a:r>
              <a:rPr lang="en-US" sz="2400" b="0" i="0" u="none" strike="noStrike" baseline="0" dirty="0">
                <a:cs typeface="Times New Roman" panose="02020603050405020304" pitchFamily="18" charset="0"/>
              </a:rPr>
              <a:t> To develop a model that may be used to simulate solar powered electric vehicle charging and to save electricity and money by using solar power to charge an automobile wirelessly </a:t>
            </a:r>
            <a:endParaRPr lang="en-IN" sz="2400" dirty="0">
              <a:cs typeface="Times New Roman" panose="02020603050405020304" pitchFamily="18" charset="0"/>
            </a:endParaRPr>
          </a:p>
          <a:p>
            <a:pPr algn="just"/>
            <a:r>
              <a:rPr sz="2400" dirty="0">
                <a:cs typeface="Times New Roman" panose="02020603050405020304" pitchFamily="18" charset="0"/>
              </a:rPr>
              <a:t>The system uses Arduino </a:t>
            </a:r>
            <a:r>
              <a:rPr lang="en-IN" sz="2400" dirty="0">
                <a:cs typeface="Times New Roman" panose="02020603050405020304" pitchFamily="18" charset="0"/>
              </a:rPr>
              <a:t>NANO</a:t>
            </a:r>
            <a:r>
              <a:rPr sz="2400" dirty="0">
                <a:cs typeface="Times New Roman" panose="02020603050405020304" pitchFamily="18" charset="0"/>
              </a:rPr>
              <a:t> for control and efficient energy transfer</a:t>
            </a:r>
            <a:r>
              <a:rPr dirty="0"/>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07986"/>
          </a:xfrm>
        </p:spPr>
        <p:txBody>
          <a:bodyPr>
            <a:normAutofit/>
          </a:bodyPr>
          <a:lstStyle/>
          <a:p>
            <a:r>
              <a:rPr b="1" u="sng" dirty="0">
                <a:latin typeface="+mn-lt"/>
                <a:cs typeface="Times New Roman" panose="02020603050405020304" pitchFamily="18" charset="0"/>
              </a:rPr>
              <a:t>System Block Diagram</a:t>
            </a:r>
          </a:p>
        </p:txBody>
      </p:sp>
      <p:pic>
        <p:nvPicPr>
          <p:cNvPr id="6" name="Picture 5">
            <a:extLst>
              <a:ext uri="{FF2B5EF4-FFF2-40B4-BE49-F238E27FC236}">
                <a16:creationId xmlns:a16="http://schemas.microsoft.com/office/drawing/2014/main" id="{07E3B3E9-074E-CFE9-EFF0-52D2ED852E42}"/>
              </a:ext>
            </a:extLst>
          </p:cNvPr>
          <p:cNvPicPr>
            <a:picLocks noChangeAspect="1"/>
          </p:cNvPicPr>
          <p:nvPr/>
        </p:nvPicPr>
        <p:blipFill>
          <a:blip r:embed="rId2"/>
          <a:stretch>
            <a:fillRect/>
          </a:stretch>
        </p:blipFill>
        <p:spPr>
          <a:xfrm>
            <a:off x="1207008" y="1417638"/>
            <a:ext cx="6632448" cy="451986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861799-84C3-611B-B7EB-260D7ABC3FD2}"/>
              </a:ext>
            </a:extLst>
          </p:cNvPr>
          <p:cNvSpPr>
            <a:spLocks noGrp="1"/>
          </p:cNvSpPr>
          <p:nvPr>
            <p:ph type="title"/>
          </p:nvPr>
        </p:nvSpPr>
        <p:spPr>
          <a:xfrm>
            <a:off x="457200" y="274638"/>
            <a:ext cx="8229600" cy="761682"/>
          </a:xfrm>
        </p:spPr>
        <p:txBody>
          <a:bodyPr>
            <a:noAutofit/>
          </a:bodyPr>
          <a:lstStyle/>
          <a:p>
            <a:r>
              <a:rPr lang="en-IN" u="sng" dirty="0">
                <a:latin typeface="+mn-lt"/>
                <a:cs typeface="Times New Roman" panose="02020603050405020304" pitchFamily="18" charset="0"/>
              </a:rPr>
              <a:t>METHODOLOGY</a:t>
            </a:r>
          </a:p>
        </p:txBody>
      </p:sp>
      <p:sp>
        <p:nvSpPr>
          <p:cNvPr id="3" name="Content Placeholder 2">
            <a:extLst>
              <a:ext uri="{FF2B5EF4-FFF2-40B4-BE49-F238E27FC236}">
                <a16:creationId xmlns:a16="http://schemas.microsoft.com/office/drawing/2014/main" id="{84A2DC04-197F-8639-07DA-E84383F0D722}"/>
              </a:ext>
            </a:extLst>
          </p:cNvPr>
          <p:cNvSpPr>
            <a:spLocks noGrp="1"/>
          </p:cNvSpPr>
          <p:nvPr>
            <p:ph idx="1"/>
          </p:nvPr>
        </p:nvSpPr>
        <p:spPr>
          <a:xfrm>
            <a:off x="457200" y="1166018"/>
            <a:ext cx="8229600" cy="4747102"/>
          </a:xfrm>
        </p:spPr>
        <p:txBody>
          <a:bodyPr>
            <a:noAutofit/>
          </a:bodyPr>
          <a:lstStyle/>
          <a:p>
            <a:pPr algn="just"/>
            <a:r>
              <a:rPr lang="en-US" sz="2400" b="0" i="0" u="none" strike="noStrike" baseline="0" dirty="0"/>
              <a:t>The wiring diagram for  project: when exposed to sunlight, the first solar panel generated up to 12 volts. The generated voltage is sent to the bridge rectifier since it stabilizes the voltage. The filtered voltage is applied to the battery to charge it.</a:t>
            </a:r>
            <a:endParaRPr lang="en-IN" sz="2400" b="0" i="0" u="none" strike="noStrike" baseline="0" dirty="0">
              <a:solidFill>
                <a:srgbClr val="000000"/>
              </a:solidFill>
            </a:endParaRPr>
          </a:p>
          <a:p>
            <a:pPr algn="just"/>
            <a:r>
              <a:rPr lang="en-US" sz="2400" b="0" i="0" u="none" strike="noStrike" baseline="0" dirty="0"/>
              <a:t>A 6-volt, 4-amp battery is being used. The battery will be charged, and the energy will be stored. A wireless transmitter attached to a battery sends the produced magnetic field around the coil</a:t>
            </a:r>
            <a:r>
              <a:rPr lang="en-US" sz="2400" dirty="0"/>
              <a:t>.</a:t>
            </a:r>
            <a:endParaRPr lang="en-IN" sz="2400" b="0" i="0" u="none" strike="noStrike" baseline="0" dirty="0">
              <a:solidFill>
                <a:srgbClr val="000000"/>
              </a:solidFill>
            </a:endParaRPr>
          </a:p>
          <a:p>
            <a:pPr algn="just"/>
            <a:r>
              <a:rPr lang="en-US" sz="2400" b="0" i="0" u="none" strike="noStrike" baseline="0" dirty="0"/>
              <a:t>We can display the voltage using an </a:t>
            </a:r>
            <a:r>
              <a:rPr lang="en-US" sz="2400" b="0" i="0" u="none" strike="noStrike" baseline="0" dirty="0" err="1"/>
              <a:t>Arduino</a:t>
            </a:r>
            <a:r>
              <a:rPr lang="en-US" sz="2400" b="0" i="0" u="none" strike="noStrike" baseline="0" dirty="0"/>
              <a:t> NANO and a 16x2 LCD. The coil on the receiver side generates magnetic fields, and the voltage is in AC format</a:t>
            </a:r>
            <a:r>
              <a:rPr lang="en-US" sz="2400" b="0" i="0" u="none" strike="noStrike" baseline="0" dirty="0">
                <a:latin typeface="Times New Roman" panose="02020603050405020304" pitchFamily="18" charset="0"/>
              </a:rPr>
              <a:t>.</a:t>
            </a:r>
          </a:p>
        </p:txBody>
      </p:sp>
    </p:spTree>
    <p:extLst>
      <p:ext uri="{BB962C8B-B14F-4D97-AF65-F5344CB8AC3E}">
        <p14:creationId xmlns:p14="http://schemas.microsoft.com/office/powerpoint/2010/main" val="41676743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DCFB284-148A-3880-0CE6-43138E5E679C}"/>
              </a:ext>
            </a:extLst>
          </p:cNvPr>
          <p:cNvSpPr>
            <a:spLocks noGrp="1"/>
          </p:cNvSpPr>
          <p:nvPr>
            <p:ph idx="1"/>
          </p:nvPr>
        </p:nvSpPr>
        <p:spPr>
          <a:xfrm>
            <a:off x="457200" y="1066800"/>
            <a:ext cx="8229600" cy="4525963"/>
          </a:xfrm>
        </p:spPr>
        <p:txBody>
          <a:bodyPr/>
          <a:lstStyle/>
          <a:p>
            <a:pPr algn="just"/>
            <a:r>
              <a:rPr lang="en-US" sz="2800" b="0" i="0" u="none" strike="noStrike" baseline="0" dirty="0">
                <a:cs typeface="Times New Roman" panose="02020603050405020304" pitchFamily="18" charset="0"/>
              </a:rPr>
              <a:t>A voltage sensor is connected to the battery, which displays the battery and solar voltages. This also shows both alternatives, such as the remaining battery power. </a:t>
            </a:r>
          </a:p>
          <a:p>
            <a:pPr algn="just"/>
            <a:r>
              <a:rPr lang="en-US" sz="2800" b="0" i="0" u="none" strike="noStrike" baseline="0" dirty="0">
                <a:cs typeface="Times New Roman" panose="02020603050405020304" pitchFamily="18" charset="0"/>
              </a:rPr>
              <a:t> It converts AC to DC and thereby stabilizes the voltage. This voltage is applied to the battery in the car, which stores energy and charges it. </a:t>
            </a:r>
          </a:p>
          <a:p>
            <a:pPr algn="just"/>
            <a:r>
              <a:rPr lang="en-US" sz="2800" b="0" i="0" u="none" strike="noStrike" baseline="0" dirty="0">
                <a:cs typeface="Times New Roman" panose="02020603050405020304" pitchFamily="18" charset="0"/>
              </a:rPr>
              <a:t>An LED indicator shows how much charge is left in the battery.</a:t>
            </a:r>
            <a:endParaRPr lang="en-IN" sz="2800" dirty="0">
              <a:cs typeface="Times New Roman" panose="02020603050405020304" pitchFamily="18" charset="0"/>
            </a:endParaRPr>
          </a:p>
          <a:p>
            <a:endParaRPr lang="en-IN" dirty="0"/>
          </a:p>
        </p:txBody>
      </p:sp>
    </p:spTree>
    <p:extLst>
      <p:ext uri="{BB962C8B-B14F-4D97-AF65-F5344CB8AC3E}">
        <p14:creationId xmlns:p14="http://schemas.microsoft.com/office/powerpoint/2010/main" val="26724273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14984" y="274638"/>
            <a:ext cx="7114032" cy="907986"/>
          </a:xfrm>
        </p:spPr>
        <p:txBody>
          <a:bodyPr>
            <a:normAutofit/>
          </a:bodyPr>
          <a:lstStyle/>
          <a:p>
            <a:r>
              <a:rPr lang="en-IN" b="1" u="sng" dirty="0">
                <a:latin typeface="Times New Roman" panose="02020603050405020304" pitchFamily="18" charset="0"/>
                <a:cs typeface="Times New Roman" panose="02020603050405020304" pitchFamily="18" charset="0"/>
              </a:rPr>
              <a:t>Hardware</a:t>
            </a:r>
            <a:r>
              <a:rPr lang="en-IN" b="1" u="sng" dirty="0"/>
              <a:t> </a:t>
            </a:r>
            <a:r>
              <a:rPr lang="en-IN" b="1" u="sng" dirty="0">
                <a:latin typeface="Times New Roman" panose="02020603050405020304" pitchFamily="18" charset="0"/>
                <a:cs typeface="Times New Roman" panose="02020603050405020304" pitchFamily="18" charset="0"/>
              </a:rPr>
              <a:t>components</a:t>
            </a:r>
            <a:endParaRPr b="1" u="sng"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736092" y="1166018"/>
            <a:ext cx="7671816" cy="4525963"/>
          </a:xfrm>
        </p:spPr>
        <p:txBody>
          <a:bodyPr>
            <a:normAutofit lnSpcReduction="10000"/>
          </a:bodyPr>
          <a:lstStyle/>
          <a:p>
            <a:pPr marL="0" indent="0">
              <a:buNone/>
            </a:pPr>
            <a:endParaRPr lang="en-IN" sz="1800" b="0" i="0" u="none" strike="noStrike" baseline="0" dirty="0"/>
          </a:p>
          <a:p>
            <a:pPr algn="just"/>
            <a:r>
              <a:rPr lang="en-US" sz="2800" b="0" i="0" u="none" strike="noStrike" baseline="0" dirty="0">
                <a:solidFill>
                  <a:srgbClr val="1F2023"/>
                </a:solidFill>
                <a:cs typeface="Times New Roman" panose="02020603050405020304" pitchFamily="18" charset="0"/>
              </a:rPr>
              <a:t>Solar panel used as an electric energy source. </a:t>
            </a:r>
            <a:endParaRPr lang="en-US" sz="2800" dirty="0">
              <a:solidFill>
                <a:srgbClr val="000000"/>
              </a:solidFill>
              <a:cs typeface="Times New Roman" panose="02020603050405020304" pitchFamily="18" charset="0"/>
            </a:endParaRPr>
          </a:p>
          <a:p>
            <a:pPr algn="just"/>
            <a:endParaRPr lang="en-IN" sz="2800" b="0" i="0" u="none" strike="noStrike" baseline="0" dirty="0">
              <a:cs typeface="Times New Roman" panose="02020603050405020304" pitchFamily="18" charset="0"/>
            </a:endParaRPr>
          </a:p>
          <a:p>
            <a:pPr algn="just"/>
            <a:r>
              <a:rPr lang="en-US" sz="2800" b="0" i="0" u="none" strike="noStrike" baseline="0" dirty="0">
                <a:cs typeface="Times New Roman" panose="02020603050405020304" pitchFamily="18" charset="0"/>
              </a:rPr>
              <a:t>Bridge Rectifier used for converting pulsating AC into DC. </a:t>
            </a:r>
            <a:r>
              <a:rPr lang="en-IN" sz="2800" b="0" i="0" u="none" strike="noStrike" baseline="0" dirty="0">
                <a:cs typeface="Times New Roman" panose="02020603050405020304" pitchFamily="18" charset="0"/>
              </a:rPr>
              <a:t> </a:t>
            </a:r>
          </a:p>
          <a:p>
            <a:pPr algn="just"/>
            <a:endParaRPr lang="en-IN" sz="2800" b="0" i="0" u="none" strike="noStrike" baseline="0" dirty="0">
              <a:cs typeface="Times New Roman" panose="02020603050405020304" pitchFamily="18" charset="0"/>
            </a:endParaRPr>
          </a:p>
          <a:p>
            <a:pPr algn="just"/>
            <a:r>
              <a:rPr lang="en-US" sz="2800" b="0" i="0" u="none" strike="noStrike" baseline="0" dirty="0">
                <a:cs typeface="Times New Roman" panose="02020603050405020304" pitchFamily="18" charset="0"/>
              </a:rPr>
              <a:t>Battery used as to store electric energy. </a:t>
            </a:r>
          </a:p>
          <a:p>
            <a:pPr algn="just"/>
            <a:endParaRPr lang="en-IN" sz="2800" b="0" i="0" u="none" strike="noStrike" baseline="0" dirty="0">
              <a:cs typeface="Times New Roman" panose="02020603050405020304" pitchFamily="18" charset="0"/>
            </a:endParaRPr>
          </a:p>
          <a:p>
            <a:pPr algn="just"/>
            <a:r>
              <a:rPr lang="en-US" sz="2800" b="0" i="0" u="none" strike="noStrike" baseline="0" dirty="0" err="1">
                <a:cs typeface="Times New Roman" panose="02020603050405020304" pitchFamily="18" charset="0"/>
              </a:rPr>
              <a:t>Arduino</a:t>
            </a:r>
            <a:r>
              <a:rPr lang="en-US" sz="2800" b="0" i="0" u="none" strike="noStrike" baseline="0" dirty="0">
                <a:cs typeface="Times New Roman" panose="02020603050405020304" pitchFamily="18" charset="0"/>
              </a:rPr>
              <a:t> NANO is use for power consumption and to show it on the display </a:t>
            </a:r>
          </a:p>
          <a:p>
            <a:pPr marL="0" indent="0">
              <a:buNone/>
            </a:pP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7"/>
            <a:ext cx="8229600" cy="509133"/>
          </a:xfrm>
        </p:spPr>
        <p:txBody>
          <a:bodyPr>
            <a:normAutofit fontScale="90000"/>
          </a:bodyPr>
          <a:lstStyle/>
          <a:p>
            <a:r>
              <a:rPr lang="en-IN" sz="4000" b="1" i="0" u="sng" strike="noStrike" baseline="0" dirty="0">
                <a:latin typeface="+mn-lt"/>
                <a:cs typeface="Times New Roman" panose="02020603050405020304" pitchFamily="18" charset="0"/>
              </a:rPr>
              <a:t>Arduino NANO </a:t>
            </a:r>
          </a:p>
        </p:txBody>
      </p:sp>
      <p:sp>
        <p:nvSpPr>
          <p:cNvPr id="3" name="Content Placeholder 2"/>
          <p:cNvSpPr>
            <a:spLocks noGrp="1"/>
          </p:cNvSpPr>
          <p:nvPr>
            <p:ph idx="1"/>
          </p:nvPr>
        </p:nvSpPr>
        <p:spPr>
          <a:xfrm>
            <a:off x="457200" y="890857"/>
            <a:ext cx="8229600" cy="5692506"/>
          </a:xfrm>
        </p:spPr>
        <p:txBody>
          <a:bodyPr/>
          <a:lstStyle/>
          <a:p>
            <a:pPr algn="just"/>
            <a:r>
              <a:rPr lang="en-US" sz="1800" b="0" i="0" u="none" strike="noStrike" baseline="0" dirty="0"/>
              <a:t>The Microchip ATmega328P microprocessor serves as the basis for the Arduino nano. </a:t>
            </a:r>
          </a:p>
          <a:p>
            <a:pPr algn="just"/>
            <a:r>
              <a:rPr lang="en-US" sz="1800" b="0" i="0" u="none" strike="noStrike" baseline="0" dirty="0"/>
              <a:t>The board includes 14 digital I/O pins (six capable of output PWM), 6 I / O analogs, and configured via Arduino IDE (Integrated Development Zone), with a USB cable type B. </a:t>
            </a:r>
          </a:p>
          <a:p>
            <a:pPr algn="just"/>
            <a:r>
              <a:rPr lang="en-US" sz="1800" b="0" i="0" u="none" strike="noStrike" baseline="0" dirty="0"/>
              <a:t>Although it accepts volumes of between 7 and 20 volts, It can be powered by a USB cable or an external 9-volt battery. Same with Leonardo and Arduino Nano. </a:t>
            </a:r>
          </a:p>
          <a:p>
            <a:pPr algn="just"/>
            <a:endParaRPr lang="en-US" sz="2000" b="0" i="0" u="none" strike="noStrike" baseline="0" dirty="0"/>
          </a:p>
        </p:txBody>
      </p:sp>
      <p:pic>
        <p:nvPicPr>
          <p:cNvPr id="5" name="Picture 4">
            <a:extLst>
              <a:ext uri="{FF2B5EF4-FFF2-40B4-BE49-F238E27FC236}">
                <a16:creationId xmlns:a16="http://schemas.microsoft.com/office/drawing/2014/main" id="{9D1D7EB5-C1EA-FD67-7C72-2368A850E695}"/>
              </a:ext>
            </a:extLst>
          </p:cNvPr>
          <p:cNvPicPr>
            <a:picLocks noChangeAspect="1"/>
          </p:cNvPicPr>
          <p:nvPr/>
        </p:nvPicPr>
        <p:blipFill>
          <a:blip r:embed="rId3"/>
          <a:stretch>
            <a:fillRect/>
          </a:stretch>
        </p:blipFill>
        <p:spPr>
          <a:xfrm>
            <a:off x="999626" y="3045721"/>
            <a:ext cx="7144747" cy="353764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26464" y="274638"/>
            <a:ext cx="6522720" cy="907986"/>
          </a:xfrm>
        </p:spPr>
        <p:txBody>
          <a:bodyPr>
            <a:normAutofit/>
          </a:bodyPr>
          <a:lstStyle/>
          <a:p>
            <a:r>
              <a:rPr sz="3600" dirty="0">
                <a:latin typeface="Times New Roman" panose="02020603050405020304" pitchFamily="18" charset="0"/>
                <a:cs typeface="Times New Roman" panose="02020603050405020304" pitchFamily="18" charset="0"/>
              </a:rPr>
              <a:t> </a:t>
            </a:r>
            <a:r>
              <a:rPr b="1" u="sng" dirty="0">
                <a:latin typeface="+mn-lt"/>
                <a:cs typeface="Times New Roman" panose="02020603050405020304" pitchFamily="18" charset="0"/>
              </a:rPr>
              <a:t>Solar Panel</a:t>
            </a:r>
          </a:p>
        </p:txBody>
      </p:sp>
      <p:sp>
        <p:nvSpPr>
          <p:cNvPr id="3" name="Content Placeholder 2"/>
          <p:cNvSpPr>
            <a:spLocks noGrp="1"/>
          </p:cNvSpPr>
          <p:nvPr>
            <p:ph idx="1"/>
          </p:nvPr>
        </p:nvSpPr>
        <p:spPr>
          <a:xfrm>
            <a:off x="457200" y="1182624"/>
            <a:ext cx="8229600" cy="5205984"/>
          </a:xfrm>
        </p:spPr>
        <p:txBody>
          <a:bodyPr>
            <a:normAutofit fontScale="92500" lnSpcReduction="10000"/>
          </a:bodyPr>
          <a:lstStyle/>
          <a:p>
            <a:pPr algn="l"/>
            <a:endParaRPr lang="en-IN" sz="1800" b="0" i="0" u="none" strike="noStrike" baseline="0" dirty="0">
              <a:solidFill>
                <a:srgbClr val="000000"/>
              </a:solidFill>
              <a:latin typeface="Times New Roman" panose="02020603050405020304" pitchFamily="18" charset="0"/>
            </a:endParaRPr>
          </a:p>
          <a:p>
            <a:r>
              <a:rPr lang="en-US" sz="2800" b="0" i="0" u="none" strike="noStrike" baseline="0" dirty="0">
                <a:latin typeface="Times New Roman" panose="02020603050405020304" pitchFamily="18" charset="0"/>
              </a:rPr>
              <a:t>In order to better support the structure of the panels, solar panels also utilize metal frames that include items for mounting racks, brackets, reflector shapes, and tunnels. We used a 16w/12v, 1.5A solar panel in this case. </a:t>
            </a:r>
          </a:p>
          <a:p>
            <a:pPr algn="just"/>
            <a:r>
              <a:rPr lang="en-US" sz="2800" b="0" i="0" u="none" strike="noStrike" baseline="0" dirty="0">
                <a:latin typeface="Times New Roman" panose="02020603050405020304" pitchFamily="18" charset="0"/>
              </a:rPr>
              <a:t>Solar cell or solar panel, a set of photo-voltaic cells embedded in the input frame. To produce direct current electricity, solar cells use sunlight as a source of energy. </a:t>
            </a:r>
          </a:p>
          <a:p>
            <a:pPr algn="just"/>
            <a:r>
              <a:rPr lang="en-US" sz="2800" b="0" i="0" u="none" strike="noStrike" baseline="0" dirty="0">
                <a:latin typeface="Times New Roman" panose="02020603050405020304" pitchFamily="18" charset="0"/>
              </a:rPr>
              <a:t>A system of photovoltaic panels is called an array, and a photovoltaic panel is a collection of photovoltaic modules. </a:t>
            </a:r>
          </a:p>
          <a:p>
            <a:pPr algn="just"/>
            <a:r>
              <a:rPr lang="en-US" sz="2800" b="0" i="0" u="none" strike="noStrike" baseline="0" dirty="0">
                <a:latin typeface="Times New Roman" panose="02020603050405020304" pitchFamily="18" charset="0"/>
              </a:rPr>
              <a:t>In a photovoltaic system, an array provides electrical items with solar energy.</a:t>
            </a:r>
            <a:endParaRPr lang="en-IN" sz="2800" b="0" i="0" u="none" strike="noStrike" baseline="0" dirty="0">
              <a:solidFill>
                <a:srgbClr val="000000"/>
              </a:solidFill>
              <a:latin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6AB213D-5EDB-BBF2-FEF5-636A3C127CC5}"/>
              </a:ext>
            </a:extLst>
          </p:cNvPr>
          <p:cNvSpPr>
            <a:spLocks noGrp="1"/>
          </p:cNvSpPr>
          <p:nvPr>
            <p:ph idx="1"/>
          </p:nvPr>
        </p:nvSpPr>
        <p:spPr>
          <a:xfrm>
            <a:off x="586408" y="915858"/>
            <a:ext cx="8229600" cy="4654296"/>
          </a:xfrm>
        </p:spPr>
        <p:txBody>
          <a:bodyPr>
            <a:normAutofit fontScale="92500" lnSpcReduction="10000"/>
          </a:bodyPr>
          <a:lstStyle/>
          <a:p>
            <a:pPr algn="l"/>
            <a:endParaRPr lang="en-IN" sz="1800" b="0" i="0" u="none" strike="noStrike" baseline="0" dirty="0">
              <a:solidFill>
                <a:srgbClr val="000000"/>
              </a:solidFill>
              <a:latin typeface="Times New Roman" panose="02020603050405020304" pitchFamily="18" charset="0"/>
            </a:endParaRPr>
          </a:p>
          <a:p>
            <a:pPr algn="just"/>
            <a:r>
              <a:rPr lang="en-US" sz="3300" b="0" i="0" u="none" strike="noStrike" baseline="0" dirty="0">
                <a:cs typeface="Times New Roman" panose="02020603050405020304" pitchFamily="18" charset="0"/>
              </a:rPr>
              <a:t>Based on the thin film cells which are available, many modules are strong but slightly flexible. </a:t>
            </a:r>
          </a:p>
          <a:p>
            <a:pPr algn="just"/>
            <a:r>
              <a:rPr lang="en-US" sz="3300" b="0" i="0" u="none" strike="noStrike" baseline="0" dirty="0">
                <a:cs typeface="Times New Roman" panose="02020603050405020304" pitchFamily="18" charset="0"/>
              </a:rPr>
              <a:t>To increase energy, cells are often electrically connected in a series, one to another at the desired voltage, and then in combination. </a:t>
            </a:r>
          </a:p>
          <a:p>
            <a:pPr algn="just"/>
            <a:r>
              <a:rPr lang="en-US" sz="3300" b="0" i="0" u="none" strike="noStrike" baseline="0" dirty="0">
                <a:cs typeface="Times New Roman" panose="02020603050405020304" pitchFamily="18" charset="0"/>
              </a:rPr>
              <a:t>Solar panel production specs are provided under ordinary situations, which is not the actual operating situation of the solar panels exposed in the installation area. </a:t>
            </a:r>
            <a:endParaRPr lang="en-US" sz="3300" dirty="0">
              <a:cs typeface="Times New Roman" panose="02020603050405020304" pitchFamily="18" charset="0"/>
            </a:endParaRPr>
          </a:p>
          <a:p>
            <a:endParaRPr lang="en-IN" dirty="0"/>
          </a:p>
        </p:txBody>
      </p:sp>
    </p:spTree>
    <p:extLst>
      <p:ext uri="{BB962C8B-B14F-4D97-AF65-F5344CB8AC3E}">
        <p14:creationId xmlns:p14="http://schemas.microsoft.com/office/powerpoint/2010/main" val="42398940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37298"/>
          </a:xfrm>
        </p:spPr>
        <p:txBody>
          <a:bodyPr>
            <a:normAutofit fontScale="90000"/>
          </a:bodyPr>
          <a:lstStyle/>
          <a:p>
            <a:br>
              <a:rPr lang="en-IN" sz="1800" b="0" i="0" u="none" strike="noStrike" baseline="0" dirty="0">
                <a:solidFill>
                  <a:srgbClr val="000000"/>
                </a:solidFill>
              </a:rPr>
            </a:br>
            <a:r>
              <a:rPr lang="en-IN" sz="4900" b="1" i="0" u="sng" strike="noStrike" baseline="0" dirty="0">
                <a:latin typeface="+mn-lt"/>
                <a:cs typeface="Times New Roman" panose="02020603050405020304" pitchFamily="18" charset="0"/>
              </a:rPr>
              <a:t>Power Transmi</a:t>
            </a:r>
            <a:r>
              <a:rPr lang="en-IN" sz="4900" b="1" u="sng" dirty="0">
                <a:latin typeface="+mn-lt"/>
                <a:cs typeface="Times New Roman" panose="02020603050405020304" pitchFamily="18" charset="0"/>
              </a:rPr>
              <a:t>ssion system</a:t>
            </a:r>
            <a:endParaRPr lang="en-IN" sz="4900" b="1" i="0" u="sng" strike="noStrike" baseline="0" dirty="0">
              <a:latin typeface="+mn-lt"/>
              <a:cs typeface="Times New Roman" panose="02020603050405020304" pitchFamily="18" charset="0"/>
            </a:endParaRPr>
          </a:p>
        </p:txBody>
      </p:sp>
      <p:sp>
        <p:nvSpPr>
          <p:cNvPr id="3" name="Content Placeholder 2"/>
          <p:cNvSpPr>
            <a:spLocks noGrp="1"/>
          </p:cNvSpPr>
          <p:nvPr>
            <p:ph idx="1"/>
          </p:nvPr>
        </p:nvSpPr>
        <p:spPr>
          <a:xfrm>
            <a:off x="457200" y="1316736"/>
            <a:ext cx="8229600" cy="4809427"/>
          </a:xfrm>
        </p:spPr>
        <p:txBody>
          <a:bodyPr>
            <a:normAutofit/>
          </a:bodyPr>
          <a:lstStyle/>
          <a:p>
            <a:pPr algn="just"/>
            <a:r>
              <a:rPr lang="en-US" sz="2800" dirty="0">
                <a:cs typeface="Times New Roman" panose="02020603050405020304" pitchFamily="18" charset="0"/>
              </a:rPr>
              <a:t>The technology relies on inductive coupling to transfer energy between a transmitter and receiver.</a:t>
            </a:r>
            <a:endParaRPr lang="en-US" sz="2800" b="0" i="0" u="none" strike="noStrike" baseline="0" dirty="0">
              <a:cs typeface="Times New Roman" panose="02020603050405020304" pitchFamily="18" charset="0"/>
            </a:endParaRPr>
          </a:p>
          <a:p>
            <a:pPr algn="just"/>
            <a:r>
              <a:rPr lang="en-US" sz="2800" b="0" i="0" u="none" strike="noStrike" baseline="0" dirty="0"/>
              <a:t>Wireless Power Transmission(WPT) OR Wireless Energy Transfer(WET) Transfers Electrical Power from transmitter to receiver without wires. </a:t>
            </a:r>
          </a:p>
          <a:p>
            <a:pPr algn="just"/>
            <a:r>
              <a:rPr lang="en-US" sz="2800" b="0" i="0" u="none" strike="noStrike" baseline="0" dirty="0"/>
              <a:t>In a wireless power transmission system, a power from a power source, produces a flexible electric field, which transfers energy from the transmitter  to a receiver, which supplies energy to the field and supplies electricity. </a:t>
            </a:r>
            <a:endParaRPr lang="en-US" sz="1800" b="0" i="0" u="none" strike="noStrike" baseline="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DF89D-A675-7CD3-6802-DFE19CA17A9F}"/>
              </a:ext>
            </a:extLst>
          </p:cNvPr>
          <p:cNvSpPr>
            <a:spLocks noGrp="1"/>
          </p:cNvSpPr>
          <p:nvPr>
            <p:ph idx="1"/>
          </p:nvPr>
        </p:nvSpPr>
        <p:spPr>
          <a:xfrm>
            <a:off x="457200" y="916786"/>
            <a:ext cx="8229600" cy="4525963"/>
          </a:xfrm>
        </p:spPr>
        <p:txBody>
          <a:bodyPr>
            <a:normAutofit fontScale="92500" lnSpcReduction="20000"/>
          </a:bodyPr>
          <a:lstStyle/>
          <a:p>
            <a:pPr algn="just"/>
            <a:r>
              <a:rPr lang="en-US" sz="3200" b="0" i="0" u="none" strike="noStrike" baseline="0" dirty="0">
                <a:latin typeface="Times New Roman" panose="02020603050405020304" pitchFamily="18" charset="0"/>
                <a:cs typeface="Times New Roman" panose="02020603050405020304" pitchFamily="18" charset="0"/>
              </a:rPr>
              <a:t>Wireless transmission technology can eliminate the use of cables and batteries, thereby increasing the mobility, comfort, and safety of the entire electrical system. </a:t>
            </a:r>
          </a:p>
          <a:p>
            <a:pPr algn="just"/>
            <a:r>
              <a:rPr lang="en-US" sz="3200" b="0" i="0" u="none" strike="noStrike" baseline="0" dirty="0">
                <a:latin typeface="Times New Roman" panose="02020603050405020304" pitchFamily="18" charset="0"/>
                <a:cs typeface="Times New Roman" panose="02020603050405020304" pitchFamily="18" charset="0"/>
              </a:rPr>
              <a:t>Wireless power transfers help to supply power to electrical appliances when connecting cables are faulty, dangerous, or ineffective. </a:t>
            </a:r>
          </a:p>
          <a:p>
            <a:pPr algn="just"/>
            <a:r>
              <a:rPr lang="en-US" sz="3200" b="0" i="0" u="none" strike="noStrike" baseline="0" dirty="0">
                <a:latin typeface="Times New Roman" panose="02020603050405020304" pitchFamily="18" charset="0"/>
                <a:cs typeface="Times New Roman" panose="02020603050405020304" pitchFamily="18" charset="0"/>
              </a:rPr>
              <a:t>Wireless transmitter convert DC to </a:t>
            </a:r>
            <a:r>
              <a:rPr lang="en-US" sz="3200" b="0" i="0" u="none" strike="noStrike" baseline="0" dirty="0" err="1">
                <a:latin typeface="Times New Roman" panose="02020603050405020304" pitchFamily="18" charset="0"/>
                <a:cs typeface="Times New Roman" panose="02020603050405020304" pitchFamily="18" charset="0"/>
              </a:rPr>
              <a:t>pursuiting</a:t>
            </a:r>
            <a:r>
              <a:rPr lang="en-US" sz="3200" b="0" i="0" u="none" strike="noStrike" baseline="0" dirty="0">
                <a:latin typeface="Times New Roman" panose="02020603050405020304" pitchFamily="18" charset="0"/>
                <a:cs typeface="Times New Roman" panose="02020603050405020304" pitchFamily="18" charset="0"/>
              </a:rPr>
              <a:t> AC and generates magnetic field and Wireless receiver convert </a:t>
            </a:r>
            <a:r>
              <a:rPr lang="en-US" sz="3200" b="0" i="0" u="none" strike="noStrike" baseline="0" dirty="0" err="1">
                <a:latin typeface="Times New Roman" panose="02020603050405020304" pitchFamily="18" charset="0"/>
                <a:cs typeface="Times New Roman" panose="02020603050405020304" pitchFamily="18" charset="0"/>
              </a:rPr>
              <a:t>pursuiting</a:t>
            </a:r>
            <a:r>
              <a:rPr lang="en-US" sz="3200" b="0" i="0" u="none" strike="noStrike" baseline="0" dirty="0">
                <a:latin typeface="Times New Roman" panose="02020603050405020304" pitchFamily="18" charset="0"/>
                <a:cs typeface="Times New Roman" panose="02020603050405020304" pitchFamily="18" charset="0"/>
              </a:rPr>
              <a:t> AC to DC and generates magnetic field. </a:t>
            </a:r>
            <a:endParaRPr lang="en-US"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2927658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b="1" u="sng" dirty="0">
                <a:latin typeface="+mn-lt"/>
                <a:cs typeface="Times New Roman" panose="02020603050405020304" pitchFamily="18" charset="0"/>
              </a:rPr>
              <a:t>Steps for Wireless Charging</a:t>
            </a:r>
          </a:p>
        </p:txBody>
      </p:sp>
      <p:sp>
        <p:nvSpPr>
          <p:cNvPr id="3" name="Content Placeholder 2"/>
          <p:cNvSpPr>
            <a:spLocks noGrp="1"/>
          </p:cNvSpPr>
          <p:nvPr>
            <p:ph idx="1"/>
          </p:nvPr>
        </p:nvSpPr>
        <p:spPr/>
        <p:txBody>
          <a:bodyPr/>
          <a:lstStyle/>
          <a:p>
            <a:r>
              <a:rPr dirty="0"/>
              <a:t>1</a:t>
            </a:r>
            <a:r>
              <a:rPr sz="2800" dirty="0"/>
              <a:t>. Vehicle detection using sensors.</a:t>
            </a:r>
          </a:p>
          <a:p>
            <a:r>
              <a:rPr sz="2800" dirty="0"/>
              <a:t>2. Energy transfer activation.</a:t>
            </a:r>
          </a:p>
          <a:p>
            <a:r>
              <a:rPr sz="2800" dirty="0"/>
              <a:t>3. Monitoring and display on LCD.</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b="1" u="sng" dirty="0">
                <a:latin typeface="+mn-lt"/>
                <a:cs typeface="Times New Roman" panose="02020603050405020304" pitchFamily="18" charset="0"/>
              </a:rPr>
              <a:t>Wireless Charging</a:t>
            </a:r>
          </a:p>
        </p:txBody>
      </p:sp>
      <p:sp>
        <p:nvSpPr>
          <p:cNvPr id="3" name="Content Placeholder 2"/>
          <p:cNvSpPr>
            <a:spLocks noGrp="1"/>
          </p:cNvSpPr>
          <p:nvPr>
            <p:ph idx="1"/>
          </p:nvPr>
        </p:nvSpPr>
        <p:spPr/>
        <p:txBody>
          <a:bodyPr>
            <a:normAutofit fontScale="85000" lnSpcReduction="20000"/>
          </a:bodyPr>
          <a:lstStyle/>
          <a:p>
            <a:r>
              <a:rPr lang="en-US" b="1" dirty="0"/>
              <a:t>How Mutual Induction Works in Wireless Charging?</a:t>
            </a:r>
          </a:p>
          <a:p>
            <a:r>
              <a:rPr lang="en-US" b="1" dirty="0"/>
              <a:t>Primary Coil (Transmitter Side)</a:t>
            </a:r>
            <a:r>
              <a:rPr lang="en-US" dirty="0"/>
              <a:t>:</a:t>
            </a:r>
          </a:p>
          <a:p>
            <a:pPr lvl="1"/>
            <a:r>
              <a:rPr lang="en-US" dirty="0"/>
              <a:t>Connected to a power source (solar + battery).</a:t>
            </a:r>
          </a:p>
          <a:p>
            <a:pPr lvl="1"/>
            <a:r>
              <a:rPr lang="en-US" dirty="0"/>
              <a:t>Converts </a:t>
            </a:r>
            <a:r>
              <a:rPr lang="en-US" b="1" dirty="0"/>
              <a:t>DC to high-frequency AC</a:t>
            </a:r>
            <a:r>
              <a:rPr lang="en-US" dirty="0"/>
              <a:t> using an </a:t>
            </a:r>
            <a:r>
              <a:rPr lang="en-US" b="1" dirty="0"/>
              <a:t>inverter circuit</a:t>
            </a:r>
            <a:r>
              <a:rPr lang="en-US" dirty="0"/>
              <a:t>.</a:t>
            </a:r>
          </a:p>
          <a:p>
            <a:pPr lvl="1"/>
            <a:r>
              <a:rPr lang="en-US" dirty="0"/>
              <a:t>Generates an </a:t>
            </a:r>
            <a:r>
              <a:rPr lang="en-US" b="1" dirty="0"/>
              <a:t>alternating magnetic field</a:t>
            </a:r>
            <a:r>
              <a:rPr lang="en-US" dirty="0"/>
              <a:t> around the coil.</a:t>
            </a:r>
          </a:p>
          <a:p>
            <a:r>
              <a:rPr lang="en-US" b="1" dirty="0"/>
              <a:t>Secondary Coil (Receiver Side - In EV)</a:t>
            </a:r>
            <a:r>
              <a:rPr lang="en-US" dirty="0"/>
              <a:t>:</a:t>
            </a:r>
          </a:p>
          <a:p>
            <a:pPr lvl="1"/>
            <a:r>
              <a:rPr lang="en-US" dirty="0"/>
              <a:t>Placed under the vehicle or inside the charging system.</a:t>
            </a:r>
          </a:p>
          <a:p>
            <a:pPr lvl="1"/>
            <a:r>
              <a:rPr lang="en-US" dirty="0"/>
              <a:t>When positioned near the transmitter coil, </a:t>
            </a:r>
            <a:r>
              <a:rPr lang="en-US" b="1" dirty="0"/>
              <a:t>mutual induction</a:t>
            </a:r>
            <a:r>
              <a:rPr lang="en-US" dirty="0"/>
              <a:t> occurs.</a:t>
            </a:r>
          </a:p>
          <a:p>
            <a:pPr lvl="1"/>
            <a:r>
              <a:rPr lang="en-US" dirty="0"/>
              <a:t>Induced AC voltage is converted back to </a:t>
            </a:r>
            <a:r>
              <a:rPr lang="en-US" b="1" dirty="0"/>
              <a:t>DC</a:t>
            </a:r>
            <a:r>
              <a:rPr lang="en-US" dirty="0"/>
              <a:t> and used to charge the battery.</a:t>
            </a:r>
          </a:p>
          <a:p>
            <a:endParaRPr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BCEB3C-80DC-E717-9B57-F37B50669F7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0A3FC2B-1549-CD98-1E97-7474965604D5}"/>
              </a:ext>
            </a:extLst>
          </p:cNvPr>
          <p:cNvSpPr>
            <a:spLocks noGrp="1"/>
          </p:cNvSpPr>
          <p:nvPr>
            <p:ph idx="1"/>
          </p:nvPr>
        </p:nvSpPr>
        <p:spPr/>
        <p:txBody>
          <a:bodyPr>
            <a:normAutofit/>
          </a:bodyPr>
          <a:lstStyle/>
          <a:p>
            <a:pPr marL="0" indent="0" algn="ctr">
              <a:buNone/>
            </a:pPr>
            <a:endParaRPr lang="en-IN" sz="6600" dirty="0"/>
          </a:p>
          <a:p>
            <a:pPr marL="0" indent="0" algn="ctr">
              <a:buNone/>
            </a:pPr>
            <a:r>
              <a:rPr lang="en-IN" sz="6600" dirty="0"/>
              <a:t>Thank you</a:t>
            </a:r>
            <a:endParaRPr sz="6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8926042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190</TotalTime>
  <Words>1107</Words>
  <Application>Microsoft Office PowerPoint</Application>
  <PresentationFormat>On-screen Show (4:3)</PresentationFormat>
  <Paragraphs>89</Paragraphs>
  <Slides>17</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Times New Roman</vt:lpstr>
      <vt:lpstr>Office Theme</vt:lpstr>
      <vt:lpstr>PowerPoint Presentation</vt:lpstr>
      <vt:lpstr>Abstract</vt:lpstr>
      <vt:lpstr>Objectives</vt:lpstr>
      <vt:lpstr>Problem Statement</vt:lpstr>
      <vt:lpstr>Solution Overview</vt:lpstr>
      <vt:lpstr>System Block Diagram</vt:lpstr>
      <vt:lpstr>METHODOLOGY</vt:lpstr>
      <vt:lpstr>PowerPoint Presentation</vt:lpstr>
      <vt:lpstr>Hardware components</vt:lpstr>
      <vt:lpstr>Arduino NANO </vt:lpstr>
      <vt:lpstr> Solar Panel</vt:lpstr>
      <vt:lpstr>PowerPoint Presentation</vt:lpstr>
      <vt:lpstr> Power Transmission system</vt:lpstr>
      <vt:lpstr>PowerPoint Presentation</vt:lpstr>
      <vt:lpstr>Steps for Wireless Charging</vt:lpstr>
      <vt:lpstr>Wireless Charging</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Solar-Based Wireless Charging Station for Electric Vehicles Using Arduino UNO</dc:title>
  <dc:subject/>
  <dc:creator>Amrutha kondala</dc:creator>
  <cp:keywords/>
  <dc:description>generated using python-pptx</dc:description>
  <cp:lastModifiedBy>venkat allu</cp:lastModifiedBy>
  <cp:revision>23</cp:revision>
  <dcterms:created xsi:type="dcterms:W3CDTF">2013-01-27T09:14:16Z</dcterms:created>
  <dcterms:modified xsi:type="dcterms:W3CDTF">2026-03-13T06:10:54Z</dcterms:modified>
  <cp:category/>
</cp:coreProperties>
</file>